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 sz="4000">
                <a:solidFill>
                  <a:srgbClr val="1F3D2B"/>
                </a:solidFill>
                <a:latin typeface="Georgia"/>
              </a:defRPr>
            </a:pPr>
            <a:r>
              <a:rPr>
                <a:solidFill>
                  <a:srgbClr val="1A1A1A"/>
                </a:solidFill>
                <a:latin typeface="Georgia"/>
              </a:rPr>
              <a:t>Bramble &amp; Bitters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1A1A1A"/>
                </a:solidFill>
                <a:latin typeface="Georgia"/>
              </a:rPr>
              <a:t>Local specialty retail • curated gifts • corporate bundles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75488"/>
            <a:ext cx="9144000" cy="54864"/>
          </a:xfrm>
          <a:prstGeom prst="rect">
            <a:avLst/>
          </a:prstGeom>
          <a:solidFill>
            <a:srgbClr val="B87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132320" y="1005840"/>
            <a:ext cx="1463040" cy="1463040"/>
          </a:xfrm>
          <a:prstGeom prst="ellipse">
            <a:avLst/>
          </a:prstGeom>
          <a:solidFill>
            <a:srgbClr val="B87333"/>
          </a:solidFill>
          <a:ln>
            <a:solidFill>
              <a:srgbClr val="B87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F4EFE6"/>
                </a:solidFill>
                <a:latin typeface="Arial"/>
              </a:defRPr>
            </a:pPr>
            <a:r>
              <a:t>Oakland</a:t>
            </a:r>
            <a:br/>
            <a:r>
              <a:t>CA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400">
                <a:solidFill>
                  <a:srgbClr val="1F3D2B"/>
                </a:solidFill>
                <a:latin typeface="Georgia"/>
              </a:defRPr>
            </a:pPr>
            <a:r>
              <a:rPr>
                <a:solidFill>
                  <a:srgbClr val="1A1A1A"/>
                </a:solidFill>
                <a:latin typeface="Georgia"/>
              </a:rPr>
              <a:t>What we 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>
                <a:solidFill>
                  <a:srgbClr val="1A1A1A"/>
                </a:solidFill>
                <a:latin typeface="Georgia"/>
              </a:rPr>
              <a:t>Neighborhood shop in Oakland + limited ship-to</a:t>
            </a:r>
          </a:p>
          <a:p>
            <a:pPr>
              <a:defRPr sz="2000"/>
            </a:pPr>
            <a:r>
              <a:rPr>
                <a:solidFill>
                  <a:srgbClr val="1A1A1A"/>
                </a:solidFill>
                <a:latin typeface="Georgia"/>
              </a:rPr>
              <a:t>Subscription program: Bramble Box</a:t>
            </a:r>
          </a:p>
          <a:p>
            <a:pPr>
              <a:defRPr sz="2000"/>
            </a:pPr>
            <a:r>
              <a:rPr>
                <a:solidFill>
                  <a:srgbClr val="1A1A1A"/>
                </a:solidFill>
                <a:latin typeface="Georgia"/>
              </a:rPr>
              <a:t>Corporate gifting bundles for local companies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75488"/>
            <a:ext cx="9144000" cy="54864"/>
          </a:xfrm>
          <a:prstGeom prst="rect">
            <a:avLst/>
          </a:prstGeom>
          <a:solidFill>
            <a:srgbClr val="B87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008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  <a:latin typeface="Arial"/>
              </a:defRPr>
            </a:pPr>
            <a:r>
              <a:t>Bramble &amp; Bitters • Pitch Deck (v2)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400">
                <a:solidFill>
                  <a:srgbClr val="1F3D2B"/>
                </a:solidFill>
                <a:latin typeface="Georgia"/>
              </a:defRPr>
            </a:pPr>
            <a:r>
              <a:rPr>
                <a:solidFill>
                  <a:srgbClr val="1A1A1A"/>
                </a:solidFill>
                <a:latin typeface="Georgia"/>
              </a:rPr>
              <a:t>Traction (selected)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>
                <a:solidFill>
                  <a:srgbClr val="1A1A1A"/>
                </a:solidFill>
                <a:latin typeface="Georgia"/>
              </a:rPr>
              <a:t>Opened storefront: Mar 2024</a:t>
            </a:r>
          </a:p>
          <a:p>
            <a:pPr>
              <a:defRPr sz="2000"/>
            </a:pPr>
            <a:r>
              <a:rPr>
                <a:solidFill>
                  <a:srgbClr val="1A1A1A"/>
                </a:solidFill>
                <a:latin typeface="Georgia"/>
              </a:rPr>
              <a:t>First corporate order: Aug 2024</a:t>
            </a:r>
          </a:p>
          <a:p>
            <a:pPr>
              <a:defRPr sz="2000"/>
            </a:pPr>
            <a:r>
              <a:rPr>
                <a:solidFill>
                  <a:srgbClr val="1A1A1A"/>
                </a:solidFill>
                <a:latin typeface="Georgia"/>
              </a:rPr>
              <a:t>Q4 2025 revenue: $310k (reported)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75488"/>
            <a:ext cx="9144000" cy="54864"/>
          </a:xfrm>
          <a:prstGeom prst="rect">
            <a:avLst/>
          </a:prstGeom>
          <a:solidFill>
            <a:srgbClr val="B87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008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  <a:latin typeface="Arial"/>
              </a:defRPr>
            </a:pPr>
            <a:r>
              <a:t>Bramble &amp; Bitters • Pitch Deck (v2)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400">
                <a:solidFill>
                  <a:srgbClr val="1F3D2B"/>
                </a:solidFill>
                <a:latin typeface="Georgia"/>
              </a:defRPr>
            </a:pPr>
            <a:r>
              <a:rPr>
                <a:solidFill>
                  <a:srgbClr val="1A1A1A"/>
                </a:solidFill>
                <a:latin typeface="Georgia"/>
              </a:rPr>
              <a:t>Strategy (2026)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>
                <a:solidFill>
                  <a:srgbClr val="1A1A1A"/>
                </a:solidFill>
                <a:latin typeface="Georgia"/>
              </a:rPr>
              <a:t>Increase repeat purchase via seasonal curation</a:t>
            </a:r>
          </a:p>
          <a:p>
            <a:pPr>
              <a:defRPr sz="2000"/>
            </a:pPr>
            <a:r>
              <a:rPr>
                <a:solidFill>
                  <a:srgbClr val="1A1A1A"/>
                </a:solidFill>
                <a:latin typeface="Georgia"/>
              </a:rPr>
              <a:t>Improve corporate gifting lead time + packaging consistency</a:t>
            </a:r>
          </a:p>
          <a:p>
            <a:pPr>
              <a:defRPr sz="2000"/>
            </a:pPr>
            <a:r>
              <a:rPr>
                <a:solidFill>
                  <a:srgbClr val="1A1A1A"/>
                </a:solidFill>
                <a:latin typeface="Georgia"/>
              </a:rPr>
              <a:t>Target gross margin: 50%+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75488"/>
            <a:ext cx="9144000" cy="54864"/>
          </a:xfrm>
          <a:prstGeom prst="rect">
            <a:avLst/>
          </a:prstGeom>
          <a:solidFill>
            <a:srgbClr val="B87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008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  <a:latin typeface="Arial"/>
              </a:defRPr>
            </a:pPr>
            <a:r>
              <a:t>Bramble &amp; Bitters • Pitch Deck (v2)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400">
                <a:solidFill>
                  <a:srgbClr val="1F3D2B"/>
                </a:solidFill>
                <a:latin typeface="Georgia"/>
              </a:defRPr>
            </a:pPr>
            <a:r>
              <a:rPr>
                <a:solidFill>
                  <a:srgbClr val="1A1A1A"/>
                </a:solidFill>
                <a:latin typeface="Georgia"/>
              </a:rPr>
              <a:t>Asks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>
                <a:solidFill>
                  <a:srgbClr val="1A1A1A"/>
                </a:solidFill>
                <a:latin typeface="Georgia"/>
              </a:rPr>
              <a:t>Local corporate introductions</a:t>
            </a:r>
          </a:p>
          <a:p>
            <a:pPr>
              <a:defRPr sz="2000"/>
            </a:pPr>
            <a:r>
              <a:rPr>
                <a:solidFill>
                  <a:srgbClr val="1A1A1A"/>
                </a:solidFill>
                <a:latin typeface="Georgia"/>
              </a:rPr>
              <a:t>Press / partnerships with neighborhood events</a:t>
            </a:r>
          </a:p>
          <a:p>
            <a:pPr>
              <a:defRPr sz="2000"/>
            </a:pPr>
            <a:r>
              <a:rPr>
                <a:solidFill>
                  <a:srgbClr val="1A1A1A"/>
                </a:solidFill>
                <a:latin typeface="Georgia"/>
              </a:rPr>
              <a:t>Packaging vendor recommendations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75488"/>
            <a:ext cx="9144000" cy="54864"/>
          </a:xfrm>
          <a:prstGeom prst="rect">
            <a:avLst/>
          </a:prstGeom>
          <a:solidFill>
            <a:srgbClr val="B87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008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  <a:latin typeface="Arial"/>
              </a:defRPr>
            </a:pPr>
            <a:r>
              <a:t>Bramble &amp; Bitters • Pitch Deck (v2)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